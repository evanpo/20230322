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~150 words]
Tiffy Han is our persona: a 35-year-old Korean-Australian project manager in Melbourne who buys her own beauty supplements.
First, social influence. Using Park and Lessig's reference group theory, dermatologists and dietitians give her trusted information. Social media, influencers and even AI are where she searches first. Friends and colleagues give her a point of comparison, and wellness communities reflect her values.
Second, culture. Tiffy wants bright, even-toned skin, a Korean beauty ideal. But she also cares about safety and ethics. As a migrant she blends both cultures. So Swisse should promise "radiance", not "whitening", and highlight its B Corp status.
Third, family and social class. She decides by herself, and as a busy upper-middle-class professional she wants affordable luxury that is convenient.
So for Swisse: combine expert proof with real creator results, at a masstige price. This fits the "Proven" and "Aspirational" pillars of H&amp;H's PPAE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2F5D45"/>
                </a:solidFill>
                <a:latin typeface="Cambria" pitchFamily="34" charset="0"/>
                <a:ea typeface="Cambria" pitchFamily="34" charset="-122"/>
                <a:cs typeface="Cambria" pitchFamily="34" charset="-120"/>
              </a:rPr>
              <a:t>External Influences on Tiffy</a:t>
            </a:r>
            <a:endParaRPr lang="en-US" sz="30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b="1" dirty="0">
                <a:solidFill>
                  <a:srgbClr val="5E8F72"/>
                </a:solidFill>
              </a:rPr>
              <a:t>Tiffy Han, 35</a:t>
            </a:r>
            <a:pPr indent="0" marL="0">
              <a:buNone/>
            </a:pPr>
            <a:r>
              <a:rPr lang="en-US" sz="1200" dirty="0">
                <a:solidFill>
                  <a:srgbClr val="5E8F72"/>
                </a:solidFill>
              </a:rPr>
              <a:t>  ·  Korean-Australian project manager, Melbourne  ·  buys her own supplements</a:t>
            </a:r>
            <a:endParaRPr lang="en-US" sz="1200" dirty="0"/>
          </a:p>
        </p:txBody>
      </p:sp>
      <p:pic>
        <p:nvPicPr>
          <p:cNvPr id="4" name="Image 0" descr="Reference group circles around Tiffy">    </p:cNvPr>
          <p:cNvPicPr>
            <a:picLocks noChangeAspect="1"/>
          </p:cNvPicPr>
          <p:nvPr/>
        </p:nvPicPr>
        <p:blipFill>
          <a:blip r:embed="rId1"/>
          <a:stretch>
            <a:fillRect/>
          </a:stretch>
        </p:blipFill>
        <p:spPr>
          <a:xfrm>
            <a:off x="457200" y="1280160"/>
            <a:ext cx="3520440" cy="3520440"/>
          </a:xfrm>
          <a:prstGeom prst="rect">
            <a:avLst/>
          </a:prstGeom>
        </p:spPr>
      </p:pic>
      <p:sp>
        <p:nvSpPr>
          <p:cNvPr id="5" name="Shape 2"/>
          <p:cNvSpPr/>
          <p:nvPr/>
        </p:nvSpPr>
        <p:spPr>
          <a:xfrm>
            <a:off x="4343400" y="1280160"/>
            <a:ext cx="4343400" cy="1069848"/>
          </a:xfrm>
          <a:prstGeom prst="roundRect">
            <a:avLst>
              <a:gd name="adj" fmla="val 6838"/>
            </a:avLst>
          </a:prstGeom>
          <a:solidFill>
            <a:srgbClr val="E8F1EC"/>
          </a:solidFill>
          <a:ln w="12700">
            <a:solidFill>
              <a:srgbClr val="E8F1EC"/>
            </a:solidFill>
            <a:prstDash val="solid"/>
          </a:ln>
        </p:spPr>
      </p:sp>
      <p:sp>
        <p:nvSpPr>
          <p:cNvPr id="6" name="Shape 3"/>
          <p:cNvSpPr/>
          <p:nvPr/>
        </p:nvSpPr>
        <p:spPr>
          <a:xfrm>
            <a:off x="4498848" y="1435608"/>
            <a:ext cx="411480" cy="411480"/>
          </a:xfrm>
          <a:prstGeom prst="ellipse">
            <a:avLst/>
          </a:prstGeom>
          <a:solidFill>
            <a:srgbClr val="2F5D45"/>
          </a:solidFill>
          <a:ln w="12700">
            <a:solidFill>
              <a:srgbClr val="2F5D45"/>
            </a:solidFill>
            <a:prstDash val="solid"/>
          </a:ln>
        </p:spPr>
      </p:sp>
      <p:sp>
        <p:nvSpPr>
          <p:cNvPr id="7" name="Text 4"/>
          <p:cNvSpPr txBox="1"/>
          <p:nvPr/>
        </p:nvSpPr>
        <p:spPr>
          <a:xfrm>
            <a:off x="4498848" y="14356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5"/>
          <p:cNvSpPr txBox="1"/>
          <p:nvPr/>
        </p:nvSpPr>
        <p:spPr>
          <a:xfrm>
            <a:off x="5029200" y="1371600"/>
            <a:ext cx="3566160" cy="292608"/>
          </a:xfrm>
          <a:prstGeom prst="rect">
            <a:avLst/>
          </a:prstGeom>
          <a:noFill/>
          <a:ln/>
        </p:spPr>
        <p:txBody>
          <a:bodyPr wrap="square" lIns="0" tIns="0" rIns="0" bIns="0" rtlCol="0" anchor="ctr"/>
          <a:lstStyle/>
          <a:p>
            <a:pPr indent="0" marL="0">
              <a:buNone/>
            </a:pPr>
            <a:r>
              <a:rPr lang="en-US" sz="1600" b="1" dirty="0">
                <a:solidFill>
                  <a:srgbClr val="2F5D45"/>
                </a:solidFill>
              </a:rPr>
              <a:t>Social</a:t>
            </a:r>
            <a:endParaRPr lang="en-US" sz="1600" dirty="0"/>
          </a:p>
        </p:txBody>
      </p:sp>
      <p:sp>
        <p:nvSpPr>
          <p:cNvPr id="9" name="Text 6"/>
          <p:cNvSpPr txBox="1"/>
          <p:nvPr/>
        </p:nvSpPr>
        <p:spPr>
          <a:xfrm>
            <a:off x="5029200" y="1664208"/>
            <a:ext cx="3566160" cy="384048"/>
          </a:xfrm>
          <a:prstGeom prst="rect">
            <a:avLst/>
          </a:prstGeom>
          <a:noFill/>
          <a:ln/>
        </p:spPr>
        <p:txBody>
          <a:bodyPr wrap="square" lIns="0" tIns="0" rIns="0" bIns="0" rtlCol="0" anchor="t"/>
          <a:lstStyle/>
          <a:p>
            <a:pPr indent="0" marL="0">
              <a:buNone/>
            </a:pPr>
            <a:r>
              <a:rPr lang="en-US" sz="1100" dirty="0">
                <a:solidFill>
                  <a:srgbClr val="1F2A24"/>
                </a:solidFill>
              </a:rPr>
              <a:t>Experts, social media/AI, friends and wellness communities shape what she believes.</a:t>
            </a:r>
            <a:endParaRPr lang="en-US" sz="1100" dirty="0"/>
          </a:p>
        </p:txBody>
      </p:sp>
      <p:sp>
        <p:nvSpPr>
          <p:cNvPr id="10" name="Text 7"/>
          <p:cNvSpPr txBox="1"/>
          <p:nvPr/>
        </p:nvSpPr>
        <p:spPr>
          <a:xfrm>
            <a:off x="5029200" y="2048256"/>
            <a:ext cx="3566160" cy="237744"/>
          </a:xfrm>
          <a:prstGeom prst="rect">
            <a:avLst/>
          </a:prstGeom>
          <a:noFill/>
          <a:ln/>
        </p:spPr>
        <p:txBody>
          <a:bodyPr wrap="square" lIns="0" tIns="0" rIns="0" bIns="0" rtlCol="0" anchor="ctr"/>
          <a:lstStyle/>
          <a:p>
            <a:pPr indent="0" marL="0">
              <a:buNone/>
            </a:pPr>
            <a:r>
              <a:rPr lang="en-US" sz="1100" b="1" i="1" dirty="0">
                <a:solidFill>
                  <a:srgbClr val="5E8F72"/>
                </a:solidFill>
              </a:rPr>
              <a:t>→ Pair dermatologist proof with real creator results</a:t>
            </a:r>
            <a:endParaRPr lang="en-US" sz="1100" dirty="0"/>
          </a:p>
        </p:txBody>
      </p:sp>
      <p:sp>
        <p:nvSpPr>
          <p:cNvPr id="11" name="Shape 8"/>
          <p:cNvSpPr/>
          <p:nvPr/>
        </p:nvSpPr>
        <p:spPr>
          <a:xfrm>
            <a:off x="4343400" y="2487168"/>
            <a:ext cx="4343400" cy="1069848"/>
          </a:xfrm>
          <a:prstGeom prst="roundRect">
            <a:avLst>
              <a:gd name="adj" fmla="val 6838"/>
            </a:avLst>
          </a:prstGeom>
          <a:solidFill>
            <a:srgbClr val="E8F1EC"/>
          </a:solidFill>
          <a:ln w="12700">
            <a:solidFill>
              <a:srgbClr val="E8F1EC"/>
            </a:solidFill>
            <a:prstDash val="solid"/>
          </a:ln>
        </p:spPr>
      </p:sp>
      <p:sp>
        <p:nvSpPr>
          <p:cNvPr id="12" name="Shape 9"/>
          <p:cNvSpPr/>
          <p:nvPr/>
        </p:nvSpPr>
        <p:spPr>
          <a:xfrm>
            <a:off x="4498848" y="2642616"/>
            <a:ext cx="411480" cy="411480"/>
          </a:xfrm>
          <a:prstGeom prst="ellipse">
            <a:avLst/>
          </a:prstGeom>
          <a:solidFill>
            <a:srgbClr val="2F5D45"/>
          </a:solidFill>
          <a:ln w="12700">
            <a:solidFill>
              <a:srgbClr val="2F5D45"/>
            </a:solidFill>
            <a:prstDash val="solid"/>
          </a:ln>
        </p:spPr>
      </p:sp>
      <p:sp>
        <p:nvSpPr>
          <p:cNvPr id="13" name="Text 10"/>
          <p:cNvSpPr txBox="1"/>
          <p:nvPr/>
        </p:nvSpPr>
        <p:spPr>
          <a:xfrm>
            <a:off x="4498848" y="26426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1"/>
          <p:cNvSpPr txBox="1"/>
          <p:nvPr/>
        </p:nvSpPr>
        <p:spPr>
          <a:xfrm>
            <a:off x="5029200" y="2578608"/>
            <a:ext cx="3566160" cy="292608"/>
          </a:xfrm>
          <a:prstGeom prst="rect">
            <a:avLst/>
          </a:prstGeom>
          <a:noFill/>
          <a:ln/>
        </p:spPr>
        <p:txBody>
          <a:bodyPr wrap="square" lIns="0" tIns="0" rIns="0" bIns="0" rtlCol="0" anchor="ctr"/>
          <a:lstStyle/>
          <a:p>
            <a:pPr indent="0" marL="0">
              <a:buNone/>
            </a:pPr>
            <a:r>
              <a:rPr lang="en-US" sz="1600" b="1" dirty="0">
                <a:solidFill>
                  <a:srgbClr val="2F5D45"/>
                </a:solidFill>
              </a:rPr>
              <a:t>Cultural</a:t>
            </a:r>
            <a:endParaRPr lang="en-US" sz="1600" dirty="0"/>
          </a:p>
        </p:txBody>
      </p:sp>
      <p:sp>
        <p:nvSpPr>
          <p:cNvPr id="15" name="Text 12"/>
          <p:cNvSpPr txBox="1"/>
          <p:nvPr/>
        </p:nvSpPr>
        <p:spPr>
          <a:xfrm>
            <a:off x="5029200" y="2871216"/>
            <a:ext cx="3566160" cy="384048"/>
          </a:xfrm>
          <a:prstGeom prst="rect">
            <a:avLst/>
          </a:prstGeom>
          <a:noFill/>
          <a:ln/>
        </p:spPr>
        <p:txBody>
          <a:bodyPr wrap="square" lIns="0" tIns="0" rIns="0" bIns="0" rtlCol="0" anchor="t"/>
          <a:lstStyle/>
          <a:p>
            <a:pPr indent="0" marL="0">
              <a:buNone/>
            </a:pPr>
            <a:r>
              <a:rPr lang="en-US" sz="1100" dirty="0">
                <a:solidFill>
                  <a:srgbClr val="1F2A24"/>
                </a:solidFill>
              </a:rPr>
              <a:t>Wants glowing, even skin (Korean ideal) but also safe, clean, ethical products.</a:t>
            </a:r>
            <a:endParaRPr lang="en-US" sz="1100" dirty="0"/>
          </a:p>
        </p:txBody>
      </p:sp>
      <p:sp>
        <p:nvSpPr>
          <p:cNvPr id="16" name="Text 13"/>
          <p:cNvSpPr txBox="1"/>
          <p:nvPr/>
        </p:nvSpPr>
        <p:spPr>
          <a:xfrm>
            <a:off x="5029200" y="3255264"/>
            <a:ext cx="3566160" cy="237744"/>
          </a:xfrm>
          <a:prstGeom prst="rect">
            <a:avLst/>
          </a:prstGeom>
          <a:noFill/>
          <a:ln/>
        </p:spPr>
        <p:txBody>
          <a:bodyPr wrap="square" lIns="0" tIns="0" rIns="0" bIns="0" rtlCol="0" anchor="ctr"/>
          <a:lstStyle/>
          <a:p>
            <a:pPr indent="0" marL="0">
              <a:buNone/>
            </a:pPr>
            <a:r>
              <a:rPr lang="en-US" sz="1100" b="1" i="1" dirty="0">
                <a:solidFill>
                  <a:srgbClr val="5E8F72"/>
                </a:solidFill>
              </a:rPr>
              <a:t>→ Say "radiance", not "whitening"; show B Corp</a:t>
            </a:r>
            <a:endParaRPr lang="en-US" sz="1100" dirty="0"/>
          </a:p>
        </p:txBody>
      </p:sp>
      <p:sp>
        <p:nvSpPr>
          <p:cNvPr id="17" name="Shape 14"/>
          <p:cNvSpPr/>
          <p:nvPr/>
        </p:nvSpPr>
        <p:spPr>
          <a:xfrm>
            <a:off x="4343400" y="3694176"/>
            <a:ext cx="4343400" cy="1069848"/>
          </a:xfrm>
          <a:prstGeom prst="roundRect">
            <a:avLst>
              <a:gd name="adj" fmla="val 6838"/>
            </a:avLst>
          </a:prstGeom>
          <a:solidFill>
            <a:srgbClr val="E8F1EC"/>
          </a:solidFill>
          <a:ln w="12700">
            <a:solidFill>
              <a:srgbClr val="E8F1EC"/>
            </a:solidFill>
            <a:prstDash val="solid"/>
          </a:ln>
        </p:spPr>
      </p:sp>
      <p:sp>
        <p:nvSpPr>
          <p:cNvPr id="18" name="Shape 15"/>
          <p:cNvSpPr/>
          <p:nvPr/>
        </p:nvSpPr>
        <p:spPr>
          <a:xfrm>
            <a:off x="4498848" y="3849624"/>
            <a:ext cx="411480" cy="411480"/>
          </a:xfrm>
          <a:prstGeom prst="ellipse">
            <a:avLst/>
          </a:prstGeom>
          <a:solidFill>
            <a:srgbClr val="2F5D45"/>
          </a:solidFill>
          <a:ln w="12700">
            <a:solidFill>
              <a:srgbClr val="2F5D45"/>
            </a:solidFill>
            <a:prstDash val="solid"/>
          </a:ln>
        </p:spPr>
      </p:sp>
      <p:sp>
        <p:nvSpPr>
          <p:cNvPr id="19" name="Text 16"/>
          <p:cNvSpPr txBox="1"/>
          <p:nvPr/>
        </p:nvSpPr>
        <p:spPr>
          <a:xfrm>
            <a:off x="4498848" y="384962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0" name="Text 17"/>
          <p:cNvSpPr txBox="1"/>
          <p:nvPr/>
        </p:nvSpPr>
        <p:spPr>
          <a:xfrm>
            <a:off x="5029200" y="3785616"/>
            <a:ext cx="3566160" cy="292608"/>
          </a:xfrm>
          <a:prstGeom prst="rect">
            <a:avLst/>
          </a:prstGeom>
          <a:noFill/>
          <a:ln/>
        </p:spPr>
        <p:txBody>
          <a:bodyPr wrap="square" lIns="0" tIns="0" rIns="0" bIns="0" rtlCol="0" anchor="ctr"/>
          <a:lstStyle/>
          <a:p>
            <a:pPr indent="0" marL="0">
              <a:buNone/>
            </a:pPr>
            <a:r>
              <a:rPr lang="en-US" sz="1600" b="1" dirty="0">
                <a:solidFill>
                  <a:srgbClr val="2F5D45"/>
                </a:solidFill>
              </a:rPr>
              <a:t>Family &amp; Class</a:t>
            </a:r>
            <a:endParaRPr lang="en-US" sz="1600" dirty="0"/>
          </a:p>
        </p:txBody>
      </p:sp>
      <p:sp>
        <p:nvSpPr>
          <p:cNvPr id="21" name="Text 18"/>
          <p:cNvSpPr txBox="1"/>
          <p:nvPr/>
        </p:nvSpPr>
        <p:spPr>
          <a:xfrm>
            <a:off x="5029200" y="4078224"/>
            <a:ext cx="3566160" cy="384048"/>
          </a:xfrm>
          <a:prstGeom prst="rect">
            <a:avLst/>
          </a:prstGeom>
          <a:noFill/>
          <a:ln/>
        </p:spPr>
        <p:txBody>
          <a:bodyPr wrap="square" lIns="0" tIns="0" rIns="0" bIns="0" rtlCol="0" anchor="t"/>
          <a:lstStyle/>
          <a:p>
            <a:pPr indent="0" marL="0">
              <a:buNone/>
            </a:pPr>
            <a:r>
              <a:rPr lang="en-US" sz="1100" dirty="0">
                <a:solidFill>
                  <a:srgbClr val="1F2A24"/>
                </a:solidFill>
              </a:rPr>
              <a:t>Decides alone; busy upper-middle-class professional wants affordable luxury.</a:t>
            </a:r>
            <a:endParaRPr lang="en-US" sz="1100" dirty="0"/>
          </a:p>
        </p:txBody>
      </p:sp>
      <p:sp>
        <p:nvSpPr>
          <p:cNvPr id="22" name="Text 19"/>
          <p:cNvSpPr txBox="1"/>
          <p:nvPr/>
        </p:nvSpPr>
        <p:spPr>
          <a:xfrm>
            <a:off x="5029200" y="4462272"/>
            <a:ext cx="3566160" cy="237744"/>
          </a:xfrm>
          <a:prstGeom prst="rect">
            <a:avLst/>
          </a:prstGeom>
          <a:noFill/>
          <a:ln/>
        </p:spPr>
        <p:txBody>
          <a:bodyPr wrap="square" lIns="0" tIns="0" rIns="0" bIns="0" rtlCol="0" anchor="ctr"/>
          <a:lstStyle/>
          <a:p>
            <a:pPr indent="0" marL="0">
              <a:buNone/>
            </a:pPr>
            <a:r>
              <a:rPr lang="en-US" sz="1100" b="1" i="1" dirty="0">
                <a:solidFill>
                  <a:srgbClr val="5E8F72"/>
                </a:solidFill>
              </a:rPr>
              <a:t>→ Masstige price, convenient format</a:t>
            </a:r>
            <a:endParaRPr lang="en-US" sz="1100" dirty="0"/>
          </a:p>
        </p:txBody>
      </p:sp>
      <p:sp>
        <p:nvSpPr>
          <p:cNvPr id="23" name="Text 20"/>
          <p:cNvSpPr txBox="1"/>
          <p:nvPr/>
        </p:nvSpPr>
        <p:spPr>
          <a:xfrm>
            <a:off x="457200" y="4828032"/>
            <a:ext cx="3840480" cy="201168"/>
          </a:xfrm>
          <a:prstGeom prst="rect">
            <a:avLst/>
          </a:prstGeom>
          <a:noFill/>
          <a:ln/>
        </p:spPr>
        <p:txBody>
          <a:bodyPr wrap="square" lIns="0" tIns="0" rIns="0" bIns="0" rtlCol="0" anchor="ctr"/>
          <a:lstStyle/>
          <a:p>
            <a:pPr indent="0" marL="0">
              <a:buNone/>
            </a:pPr>
            <a:r>
              <a:rPr lang="en-US" sz="800" dirty="0">
                <a:solidFill>
                  <a:srgbClr val="7A8A80"/>
                </a:solidFill>
              </a:rPr>
              <a:t>Source: developed by authors, adapted from Park &amp; Lessig (1977)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2026-10-07T02:42:45Z</dcterms:created>
  <dcterms:modified xsi:type="dcterms:W3CDTF">2026-10-07T02:42:45Z</dcterms:modified>
</cp:coreProperties>
</file>